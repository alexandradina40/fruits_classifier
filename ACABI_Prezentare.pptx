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7" r:id="rId11"/>
    <p:sldId id="265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008080"/>
    <a:srgbClr val="FFCCCC"/>
    <a:srgbClr val="FF5050"/>
    <a:srgbClr val="FF00FF"/>
    <a:srgbClr val="CC00CC"/>
    <a:srgbClr val="FF99FF"/>
    <a:srgbClr val="3A8C7C"/>
    <a:srgbClr val="A43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73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32210" y="1344168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22682" y="2420115"/>
            <a:ext cx="2894846" cy="2286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3257" y="219457"/>
            <a:ext cx="628649" cy="575765"/>
          </a:xfrm>
        </p:spPr>
        <p:txBody>
          <a:bodyPr/>
          <a:lstStyle>
            <a:lvl1pPr>
              <a:defRPr sz="2100" b="0" i="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88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866216" y="710940"/>
            <a:ext cx="6571060" cy="546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4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8" y="2008234"/>
            <a:ext cx="3263267" cy="1712867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9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3526" y="1952625"/>
            <a:ext cx="3621558" cy="256222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4" y="1952625"/>
            <a:ext cx="3618869" cy="253327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13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77047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409245"/>
            <a:ext cx="3618869" cy="210560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3" y="1952625"/>
            <a:ext cx="3618870" cy="456619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409245"/>
            <a:ext cx="3618869" cy="210560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47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96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60" y="1085850"/>
            <a:ext cx="3892549" cy="3429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14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1" y="1269999"/>
            <a:ext cx="2895194" cy="1301751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4" y="857250"/>
            <a:ext cx="242039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4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724459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7" y="4149512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4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97562"/>
            <a:ext cx="6619244" cy="1034816"/>
          </a:xfrm>
        </p:spPr>
        <p:txBody>
          <a:bodyPr anchor="ctr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95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673721" y="45269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7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278853" y="1960341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72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735388"/>
            <a:ext cx="6345737" cy="2028776"/>
          </a:xfrm>
        </p:spPr>
        <p:txBody>
          <a:bodyPr anchor="ctr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64886"/>
            <a:ext cx="5794329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60795"/>
            <a:ext cx="6619244" cy="759498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8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1803358"/>
            <a:ext cx="6619244" cy="1341528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940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61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866216" y="710940"/>
            <a:ext cx="6571060" cy="546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8249"/>
            <a:ext cx="2346876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6" y="2390446"/>
            <a:ext cx="2346876" cy="212984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8249"/>
            <a:ext cx="235903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90446"/>
            <a:ext cx="2359035" cy="212984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5026" y="1952625"/>
            <a:ext cx="2368086" cy="43219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5025" y="2390446"/>
            <a:ext cx="2370772" cy="212984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28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399634"/>
            <a:ext cx="226555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4" y="1958435"/>
            <a:ext cx="2018432" cy="118782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1"/>
            <a:ext cx="2265559" cy="68846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82130"/>
            <a:ext cx="2018432" cy="116412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6649" y="3831831"/>
            <a:ext cx="2287829" cy="6910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575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64244"/>
            <a:ext cx="2018432" cy="118201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576" y="3831831"/>
            <a:ext cx="2290595" cy="67225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42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866216" y="710940"/>
            <a:ext cx="6571060" cy="546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721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73072"/>
            <a:ext cx="1057474" cy="354722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5" y="973072"/>
            <a:ext cx="4685660" cy="35472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10940"/>
            <a:ext cx="6571060" cy="546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80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8204" y="479580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5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949440" y="-822960"/>
            <a:ext cx="2743200" cy="27432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48640" y="3657600"/>
            <a:ext cx="2011680" cy="20116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 err="1">
                <a:solidFill>
                  <a:srgbClr val="FFFFFF"/>
                </a:solidFill>
                <a:latin typeface="Georgia"/>
              </a:rPr>
              <a:t>Clasificarea</a:t>
            </a:r>
            <a:r>
              <a:rPr sz="32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Georgia"/>
              </a:rPr>
              <a:t>Fructelor</a:t>
            </a:r>
            <a:r>
              <a:rPr sz="3200" b="1" i="0" dirty="0">
                <a:solidFill>
                  <a:srgbClr val="FFFFFF"/>
                </a:solidFill>
                <a:latin typeface="Georgia"/>
              </a:rPr>
              <a:t>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 err="1">
                <a:solidFill>
                  <a:srgbClr val="52B788"/>
                </a:solidFill>
                <a:latin typeface="Georgia"/>
              </a:rPr>
              <a:t>Retele</a:t>
            </a:r>
            <a:r>
              <a:rPr sz="3200" b="1" i="0" dirty="0">
                <a:solidFill>
                  <a:srgbClr val="52B788"/>
                </a:solidFill>
                <a:latin typeface="Georgia"/>
              </a:rPr>
              <a:t> </a:t>
            </a:r>
            <a:r>
              <a:rPr sz="3200" b="1" i="0" dirty="0" err="1">
                <a:solidFill>
                  <a:srgbClr val="52B788"/>
                </a:solidFill>
                <a:latin typeface="Georgia"/>
              </a:rPr>
              <a:t>Neuronale</a:t>
            </a:r>
            <a:r>
              <a:rPr sz="3200" b="1" i="0" dirty="0">
                <a:solidFill>
                  <a:srgbClr val="52B788"/>
                </a:solidFill>
                <a:latin typeface="Georgia"/>
              </a:rPr>
              <a:t> </a:t>
            </a:r>
            <a:r>
              <a:rPr sz="3200" b="1" i="0" dirty="0" err="1">
                <a:solidFill>
                  <a:srgbClr val="52B788"/>
                </a:solidFill>
                <a:latin typeface="Georgia"/>
              </a:rPr>
              <a:t>Convolutionale</a:t>
            </a:r>
            <a:endParaRPr sz="3200" b="1" i="0" dirty="0">
              <a:solidFill>
                <a:srgbClr val="52B788"/>
              </a:solidFill>
              <a:latin typeface="Georgi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5029200" cy="457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D8F3DC"/>
                </a:solidFill>
                <a:latin typeface="Calibri"/>
              </a:rPr>
              <a:t>Proiect</a:t>
            </a:r>
            <a:r>
              <a:rPr sz="1400" b="0" i="0" dirty="0">
                <a:solidFill>
                  <a:srgbClr val="D8F3DC"/>
                </a:solidFill>
                <a:latin typeface="Calibri"/>
              </a:rPr>
              <a:t> ACABI - </a:t>
            </a:r>
            <a:r>
              <a:rPr sz="1400" b="0" i="0" dirty="0" err="1">
                <a:solidFill>
                  <a:srgbClr val="D8F3DC"/>
                </a:solidFill>
                <a:latin typeface="Calibri"/>
              </a:rPr>
              <a:t>Documentatie</a:t>
            </a:r>
            <a:r>
              <a:rPr sz="1400" b="0" i="0" dirty="0">
                <a:solidFill>
                  <a:srgbClr val="D8F3D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D8F3DC"/>
                </a:solidFill>
                <a:latin typeface="Calibri"/>
              </a:rPr>
              <a:t>Tehnica</a:t>
            </a:r>
            <a:endParaRPr sz="1400" b="0" i="0" dirty="0">
              <a:solidFill>
                <a:srgbClr val="D8F3DC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7E4C7"/>
                </a:solidFill>
                <a:latin typeface="Calibri"/>
              </a:rPr>
              <a:t>Dataset: Fruits-360 + Achizitie Proprie  |  6 Clase  |  Model: MobileNetV2  |  TensorFlow/Keras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Costan Adriana-Stefania  *  Dina-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Nitoi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Maria-Alexandra  * 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Spinu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Daniela-Elena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7E4C7"/>
                </a:solidFill>
                <a:latin typeface="Calibri"/>
              </a:rPr>
              <a:t>Master ACABI  |  2025-2026  |  Perioada achizitie: 02.04 - 28.05.2026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60520"/>
            <a:ext cx="1280160" cy="64008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4315968"/>
            <a:ext cx="12435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Mar Granny</a:t>
            </a:r>
            <a:r>
              <a:rPr lang="en-US" sz="900" b="1" i="0" dirty="0">
                <a:solidFill>
                  <a:srgbClr val="FFFFFF"/>
                </a:solidFill>
                <a:latin typeface="Calibri"/>
              </a:rPr>
              <a:t> Smith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874519" y="4160520"/>
            <a:ext cx="1280160" cy="6400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92808" y="4315968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Mar Rosu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4160520"/>
            <a:ext cx="1280160" cy="640080"/>
          </a:xfrm>
          <a:prstGeom prst="rect">
            <a:avLst/>
          </a:prstGeom>
          <a:solidFill>
            <a:srgbClr val="D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0128" y="4315968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Banana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4160520"/>
            <a:ext cx="1280160" cy="64008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4315968"/>
            <a:ext cx="12435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i="0" dirty="0" err="1">
                <a:solidFill>
                  <a:srgbClr val="FFFFFF"/>
                </a:solidFill>
                <a:latin typeface="Calibri"/>
              </a:rPr>
              <a:t>Portocala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26480" y="4160520"/>
            <a:ext cx="1280160" cy="64008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4768" y="4315968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Capsuna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4160520"/>
            <a:ext cx="1280160" cy="640080"/>
          </a:xfrm>
          <a:prstGeom prst="rect">
            <a:avLst/>
          </a:prstGeom>
          <a:solidFill>
            <a:srgbClr val="B5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62088" y="4315968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Nectarina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Introducere &amp; Motivatie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B788"/>
                </a:solidFill>
                <a:latin typeface="Calibr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-14990" y="960120"/>
            <a:ext cx="9144000" cy="418338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02336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3152" cy="3749039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82804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B4332"/>
                </a:solidFill>
                <a:latin typeface="Calibri"/>
              </a:rPr>
              <a:t>Ce </a:t>
            </a:r>
            <a:r>
              <a:rPr b="1" i="0" dirty="0" err="1">
                <a:solidFill>
                  <a:srgbClr val="1B4332"/>
                </a:solidFill>
                <a:latin typeface="Calibri"/>
              </a:rPr>
              <a:t>isi</a:t>
            </a:r>
            <a:r>
              <a:rPr b="1" i="0" dirty="0">
                <a:solidFill>
                  <a:srgbClr val="1B4332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1B4332"/>
                </a:solidFill>
                <a:latin typeface="Calibri"/>
              </a:rPr>
              <a:t>propune</a:t>
            </a:r>
            <a:r>
              <a:rPr b="1" i="0" dirty="0">
                <a:solidFill>
                  <a:srgbClr val="1B4332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1B4332"/>
                </a:solidFill>
                <a:latin typeface="Calibri"/>
              </a:rPr>
              <a:t>proiectul</a:t>
            </a:r>
            <a:r>
              <a:rPr b="1" i="0" dirty="0">
                <a:solidFill>
                  <a:srgbClr val="1B4332"/>
                </a:solidFill>
                <a:latin typeface="Calibri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47043"/>
            <a:ext cx="36874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300" b="0" dirty="0" err="1">
                <a:solidFill>
                  <a:srgbClr val="1E1E1E"/>
                </a:solidFill>
                <a:latin typeface="Calibri"/>
              </a:rPr>
              <a:t>Clasificarea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automata a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imaginilor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de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fructe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folosind Transfer Learning (MobileNetV2).</a:t>
            </a:r>
          </a:p>
          <a:p>
            <a:pPr algn="just"/>
            <a:r>
              <a:rPr sz="1300" b="1" dirty="0">
                <a:solidFill>
                  <a:srgbClr val="1B4332"/>
                </a:solidFill>
                <a:latin typeface="Calibri"/>
              </a:rPr>
              <a:t>Se </a:t>
            </a:r>
            <a:r>
              <a:rPr sz="1300" b="1" dirty="0" err="1">
                <a:solidFill>
                  <a:srgbClr val="1B4332"/>
                </a:solidFill>
                <a:latin typeface="Calibri"/>
              </a:rPr>
              <a:t>combina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B4332"/>
                </a:solidFill>
                <a:latin typeface="Calibri"/>
              </a:rPr>
              <a:t>doua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B4332"/>
                </a:solidFill>
                <a:latin typeface="Calibri"/>
              </a:rPr>
              <a:t>surse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 de date:</a:t>
            </a:r>
          </a:p>
          <a:p>
            <a:pPr algn="just"/>
            <a:r>
              <a:rPr sz="1300" b="0" dirty="0">
                <a:solidFill>
                  <a:srgbClr val="1E1E1E"/>
                </a:solidFill>
                <a:latin typeface="Calibri"/>
              </a:rPr>
              <a:t>  - Dataset public Fruits-360 (Kaggle, 130+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clase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)</a:t>
            </a:r>
          </a:p>
          <a:p>
            <a:pPr algn="just"/>
            <a:r>
              <a:rPr sz="1300" b="0" dirty="0">
                <a:solidFill>
                  <a:srgbClr val="1E1E1E"/>
                </a:solidFill>
                <a:latin typeface="Calibri"/>
              </a:rPr>
              <a:t>  -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Achizitie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proprie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in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laborator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(6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clase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)</a:t>
            </a:r>
          </a:p>
          <a:p>
            <a:r>
              <a:rPr sz="1300" b="1" dirty="0" err="1">
                <a:solidFill>
                  <a:srgbClr val="1B4332"/>
                </a:solidFill>
                <a:latin typeface="Calibri"/>
              </a:rPr>
              <a:t>Problema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: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clasificare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multi-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clasa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pe 6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clase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de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fruct</a:t>
            </a:r>
            <a:r>
              <a:rPr lang="en-US" sz="1300" b="0" dirty="0" err="1">
                <a:solidFill>
                  <a:srgbClr val="1E1E1E"/>
                </a:solidFill>
                <a:latin typeface="Calibri"/>
              </a:rPr>
              <a:t>e</a:t>
            </a:r>
            <a:endParaRPr lang="ro-RO" sz="1300" b="0" dirty="0">
              <a:solidFill>
                <a:srgbClr val="1E1E1E"/>
              </a:solidFill>
              <a:latin typeface="Calibri"/>
            </a:endParaRPr>
          </a:p>
          <a:p>
            <a:r>
              <a:rPr lang="ro-RO" sz="1300" b="1" dirty="0">
                <a:solidFill>
                  <a:srgbClr val="1B4332"/>
                </a:solidFill>
                <a:latin typeface="Calibri"/>
              </a:rPr>
              <a:t>Cazuri limita</a:t>
            </a:r>
            <a:r>
              <a:rPr lang="en-US" sz="1300" b="1" dirty="0">
                <a:solidFill>
                  <a:srgbClr val="1B4332"/>
                </a:solidFill>
                <a:latin typeface="Calibri"/>
              </a:rPr>
              <a:t>:</a:t>
            </a:r>
            <a:r>
              <a:rPr lang="en-US" sz="1300" dirty="0">
                <a:solidFill>
                  <a:srgbClr val="1E1E1E"/>
                </a:solidFill>
                <a:latin typeface="Calibri"/>
              </a:rPr>
              <a:t> </a:t>
            </a:r>
            <a:r>
              <a:rPr lang="en-US" sz="1300" b="0" dirty="0">
                <a:solidFill>
                  <a:srgbClr val="1E1E1E"/>
                </a:solidFill>
                <a:latin typeface="Calibri"/>
              </a:rPr>
              <a:t>2 </a:t>
            </a:r>
            <a:r>
              <a:rPr lang="en-US" sz="1300" b="0" dirty="0" err="1">
                <a:solidFill>
                  <a:srgbClr val="1E1E1E"/>
                </a:solidFill>
                <a:latin typeface="Calibri"/>
              </a:rPr>
              <a:t>soiuri</a:t>
            </a:r>
            <a:r>
              <a:rPr lang="en-US" sz="1300" b="0" dirty="0">
                <a:solidFill>
                  <a:srgbClr val="1E1E1E"/>
                </a:solidFill>
                <a:latin typeface="Calibri"/>
              </a:rPr>
              <a:t> de mar ( </a:t>
            </a:r>
            <a:r>
              <a:rPr lang="en-US" sz="1300" b="0" dirty="0" err="1">
                <a:solidFill>
                  <a:srgbClr val="1E1E1E"/>
                </a:solidFill>
                <a:latin typeface="Calibri"/>
              </a:rPr>
              <a:t>testand</a:t>
            </a:r>
            <a:r>
              <a:rPr lang="en-US" sz="1300" b="0" dirty="0">
                <a:solidFill>
                  <a:srgbClr val="1E1E1E"/>
                </a:solidFill>
                <a:latin typeface="Calibri"/>
              </a:rPr>
              <a:t> </a:t>
            </a:r>
            <a:r>
              <a:rPr lang="en-US" sz="1300" b="0" dirty="0" err="1">
                <a:solidFill>
                  <a:srgbClr val="1E1E1E"/>
                </a:solidFill>
                <a:latin typeface="Calibri"/>
              </a:rPr>
              <a:t>capacitatea</a:t>
            </a:r>
            <a:r>
              <a:rPr lang="en-US" sz="1300" b="0" dirty="0">
                <a:solidFill>
                  <a:srgbClr val="1E1E1E"/>
                </a:solidFill>
                <a:latin typeface="Calibri"/>
              </a:rPr>
              <a:t> de </a:t>
            </a:r>
            <a:r>
              <a:rPr lang="en-US" sz="1300" b="0" dirty="0" err="1">
                <a:solidFill>
                  <a:srgbClr val="1E1E1E"/>
                </a:solidFill>
                <a:latin typeface="Calibri"/>
              </a:rPr>
              <a:t>discriminare</a:t>
            </a:r>
            <a:r>
              <a:rPr lang="en-US" sz="1300" b="0" dirty="0">
                <a:solidFill>
                  <a:srgbClr val="1E1E1E"/>
                </a:solidFill>
                <a:latin typeface="Calibri"/>
              </a:rPr>
              <a:t> </a:t>
            </a:r>
            <a:r>
              <a:rPr lang="en-US" sz="1300" b="0" dirty="0" err="1">
                <a:solidFill>
                  <a:srgbClr val="1E1E1E"/>
                </a:solidFill>
                <a:latin typeface="Calibri"/>
              </a:rPr>
              <a:t>dupa</a:t>
            </a:r>
            <a:r>
              <a:rPr lang="en-US" sz="1300" b="0" dirty="0">
                <a:solidFill>
                  <a:srgbClr val="1E1E1E"/>
                </a:solidFill>
                <a:latin typeface="Calibri"/>
              </a:rPr>
              <a:t> </a:t>
            </a:r>
            <a:r>
              <a:rPr lang="en-US" sz="1300" b="0" dirty="0" err="1">
                <a:solidFill>
                  <a:srgbClr val="1E1E1E"/>
                </a:solidFill>
                <a:latin typeface="Calibri"/>
              </a:rPr>
              <a:t>culoare</a:t>
            </a:r>
            <a:r>
              <a:rPr lang="en-US" sz="1300" b="0" dirty="0">
                <a:solidFill>
                  <a:srgbClr val="1E1E1E"/>
                </a:solidFill>
                <a:latin typeface="Calibri"/>
              </a:rPr>
              <a:t> </a:t>
            </a:r>
            <a:r>
              <a:rPr lang="en-US" sz="1300" b="0" dirty="0" err="1">
                <a:solidFill>
                  <a:srgbClr val="1E1E1E"/>
                </a:solidFill>
                <a:latin typeface="Calibri"/>
              </a:rPr>
              <a:t>si</a:t>
            </a:r>
            <a:r>
              <a:rPr lang="en-US" sz="1300" b="0" dirty="0">
                <a:solidFill>
                  <a:srgbClr val="1E1E1E"/>
                </a:solidFill>
                <a:latin typeface="Calibri"/>
              </a:rPr>
              <a:t> </a:t>
            </a:r>
            <a:r>
              <a:rPr lang="en-US" sz="1300" b="0" dirty="0" err="1">
                <a:solidFill>
                  <a:srgbClr val="1E1E1E"/>
                </a:solidFill>
                <a:latin typeface="Calibri"/>
              </a:rPr>
              <a:t>textura</a:t>
            </a:r>
            <a:r>
              <a:rPr lang="en-US" sz="1300" dirty="0">
                <a:solidFill>
                  <a:srgbClr val="1E1E1E"/>
                </a:solidFill>
                <a:latin typeface="Calibri"/>
              </a:rPr>
              <a:t>) </a:t>
            </a:r>
            <a:endParaRPr lang="en-US" sz="1300" b="0" dirty="0">
              <a:solidFill>
                <a:srgbClr val="1E1E1E"/>
              </a:solidFill>
              <a:latin typeface="Calibri"/>
            </a:endParaRPr>
          </a:p>
          <a:p>
            <a:pPr algn="just"/>
            <a:r>
              <a:rPr lang="en-US" sz="1300" b="1" dirty="0">
                <a:solidFill>
                  <a:srgbClr val="1B4332"/>
                </a:solidFill>
                <a:latin typeface="Calibri"/>
              </a:rPr>
              <a:t>Tinta: </a:t>
            </a:r>
            <a:r>
              <a:rPr lang="en-US" sz="1300" b="1" dirty="0" err="1">
                <a:solidFill>
                  <a:srgbClr val="1B4332"/>
                </a:solidFill>
                <a:latin typeface="Calibri"/>
              </a:rPr>
              <a:t>acuratete</a:t>
            </a:r>
            <a:r>
              <a:rPr lang="en-US" sz="1300" b="1" dirty="0">
                <a:solidFill>
                  <a:srgbClr val="1B4332"/>
                </a:solidFill>
                <a:latin typeface="Calibri"/>
              </a:rPr>
              <a:t> &gt; 80% pe </a:t>
            </a:r>
            <a:r>
              <a:rPr lang="en-US" sz="1300" b="1" dirty="0" err="1">
                <a:solidFill>
                  <a:srgbClr val="1B4332"/>
                </a:solidFill>
                <a:latin typeface="Calibri"/>
              </a:rPr>
              <a:t>datele</a:t>
            </a:r>
            <a:r>
              <a:rPr lang="en-US" sz="1300" b="1" dirty="0">
                <a:solidFill>
                  <a:srgbClr val="1B4332"/>
                </a:solidFill>
                <a:latin typeface="Calibri"/>
              </a:rPr>
              <a:t> combinate.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097280"/>
            <a:ext cx="402336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46320" y="1097280"/>
            <a:ext cx="73152" cy="3749039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11496" y="138074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C05020"/>
                </a:solidFill>
                <a:latin typeface="Calibri"/>
              </a:rPr>
              <a:t>De </a:t>
            </a:r>
            <a:r>
              <a:rPr b="1" i="0" dirty="0" err="1">
                <a:solidFill>
                  <a:srgbClr val="C05020"/>
                </a:solidFill>
                <a:latin typeface="Calibri"/>
              </a:rPr>
              <a:t>ce</a:t>
            </a:r>
            <a:r>
              <a:rPr b="1" i="0" dirty="0">
                <a:solidFill>
                  <a:srgbClr val="C05020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C05020"/>
                </a:solidFill>
                <a:latin typeface="Calibri"/>
              </a:rPr>
              <a:t>este</a:t>
            </a:r>
            <a:r>
              <a:rPr b="1" i="0" dirty="0">
                <a:solidFill>
                  <a:srgbClr val="C05020"/>
                </a:solidFill>
                <a:latin typeface="Calibri"/>
              </a:rPr>
              <a:t> important?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1496" y="1947043"/>
            <a:ext cx="35661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1B4332"/>
                </a:solidFill>
                <a:latin typeface="Calibri"/>
              </a:rPr>
              <a:t>Achizitia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B4332"/>
                </a:solidFill>
                <a:latin typeface="Calibri"/>
              </a:rPr>
              <a:t>proprie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B4332"/>
                </a:solidFill>
                <a:latin typeface="Calibri"/>
              </a:rPr>
              <a:t>aduce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B4332"/>
                </a:solidFill>
                <a:latin typeface="Calibri"/>
              </a:rPr>
              <a:t>valoare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B4332"/>
                </a:solidFill>
                <a:latin typeface="Calibri"/>
              </a:rPr>
              <a:t>adaugata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:</a:t>
            </a:r>
          </a:p>
          <a:p>
            <a:pPr algn="l"/>
            <a:r>
              <a:rPr sz="1300" b="0" dirty="0">
                <a:solidFill>
                  <a:srgbClr val="1E1E1E"/>
                </a:solidFill>
                <a:latin typeface="Calibri"/>
              </a:rPr>
              <a:t>  +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Testeaza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robustetea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pe date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reale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de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laborator</a:t>
            </a:r>
            <a:endParaRPr sz="1300" b="0" dirty="0">
              <a:solidFill>
                <a:srgbClr val="1E1E1E"/>
              </a:solidFill>
              <a:latin typeface="Calibri"/>
            </a:endParaRPr>
          </a:p>
          <a:p>
            <a:pPr algn="l"/>
            <a:r>
              <a:rPr sz="1300" b="0" dirty="0">
                <a:solidFill>
                  <a:srgbClr val="1E1E1E"/>
                </a:solidFill>
                <a:latin typeface="Calibri"/>
              </a:rPr>
              <a:t>  +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Permite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comparatie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directa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: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proprii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vs. Fruits-360</a:t>
            </a:r>
          </a:p>
          <a:p>
            <a:pPr algn="l"/>
            <a:r>
              <a:rPr lang="en-US" sz="1300" b="0" dirty="0">
                <a:solidFill>
                  <a:srgbClr val="1E1E1E"/>
                </a:solidFill>
                <a:latin typeface="Calibri"/>
              </a:rPr>
              <a:t>  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+ 5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scenarii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de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testare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</a:t>
            </a:r>
            <a:endParaRPr lang="en-US" sz="1300" b="0" dirty="0">
              <a:solidFill>
                <a:srgbClr val="1E1E1E"/>
              </a:solidFill>
              <a:latin typeface="Calibri"/>
            </a:endParaRPr>
          </a:p>
          <a:p>
            <a:pPr algn="l"/>
            <a:r>
              <a:rPr sz="1300" b="1" dirty="0" err="1">
                <a:solidFill>
                  <a:srgbClr val="1B4332"/>
                </a:solidFill>
                <a:latin typeface="Calibri"/>
              </a:rPr>
              <a:t>Valoarea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B4332"/>
                </a:solidFill>
                <a:latin typeface="Calibri"/>
              </a:rPr>
              <a:t>practica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:</a:t>
            </a:r>
          </a:p>
          <a:p>
            <a:pPr algn="l"/>
            <a:r>
              <a:rPr sz="1300" b="0" dirty="0">
                <a:solidFill>
                  <a:srgbClr val="1E1E1E"/>
                </a:solidFill>
                <a:latin typeface="Calibri"/>
              </a:rPr>
              <a:t>  Un model robust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trebuie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sa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generalizeze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pe date</a:t>
            </a:r>
          </a:p>
          <a:p>
            <a:pPr algn="l"/>
            <a:r>
              <a:rPr sz="1300" b="0" dirty="0">
                <a:solidFill>
                  <a:srgbClr val="1E1E1E"/>
                </a:solidFill>
                <a:latin typeface="Calibri"/>
              </a:rPr>
              <a:t>  din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medii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diferite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- nu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doar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 pe date </a:t>
            </a:r>
            <a:r>
              <a:rPr sz="1300" b="0" dirty="0" err="1">
                <a:solidFill>
                  <a:srgbClr val="1E1E1E"/>
                </a:solidFill>
                <a:latin typeface="Calibri"/>
              </a:rPr>
              <a:t>standardizate</a:t>
            </a:r>
            <a:r>
              <a:rPr sz="1300" b="0" dirty="0">
                <a:solidFill>
                  <a:srgbClr val="1E1E1E"/>
                </a:solidFill>
                <a:latin typeface="Calibri"/>
              </a:rPr>
              <a:t>.</a:t>
            </a:r>
          </a:p>
          <a:p>
            <a:pPr algn="l"/>
            <a:r>
              <a:rPr sz="1300" b="1" dirty="0">
                <a:solidFill>
                  <a:srgbClr val="1B4332"/>
                </a:solidFill>
                <a:latin typeface="Calibri"/>
              </a:rPr>
              <a:t>  </a:t>
            </a:r>
            <a:r>
              <a:rPr sz="1300" b="1" dirty="0" err="1">
                <a:solidFill>
                  <a:srgbClr val="1B4332"/>
                </a:solidFill>
                <a:latin typeface="Calibri"/>
              </a:rPr>
              <a:t>Scenariul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 5 (100%) </a:t>
            </a:r>
            <a:r>
              <a:rPr sz="1300" b="1" dirty="0" err="1">
                <a:solidFill>
                  <a:srgbClr val="1B4332"/>
                </a:solidFill>
                <a:latin typeface="Calibri"/>
              </a:rPr>
              <a:t>confirma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B4332"/>
                </a:solidFill>
                <a:latin typeface="Calibri"/>
              </a:rPr>
              <a:t>aceasta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B4332"/>
                </a:solidFill>
                <a:latin typeface="Calibri"/>
              </a:rPr>
              <a:t>abordare</a:t>
            </a:r>
            <a:r>
              <a:rPr sz="1300" b="1" dirty="0">
                <a:solidFill>
                  <a:srgbClr val="1B4332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Obiective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B788"/>
                </a:solidFill>
                <a:latin typeface="Calibr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41148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48640" cy="16916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" y="1645920"/>
            <a:ext cx="5303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984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52B788"/>
                </a:solidFill>
                <a:latin typeface="Calibri"/>
              </a:rPr>
              <a:t>Achizitie</a:t>
            </a:r>
            <a:r>
              <a:rPr sz="1300" b="1" i="0" dirty="0">
                <a:solidFill>
                  <a:srgbClr val="52B788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52B788"/>
                </a:solidFill>
                <a:latin typeface="Calibri"/>
              </a:rPr>
              <a:t>Proprie</a:t>
            </a:r>
            <a:endParaRPr sz="1300" b="1" i="0" dirty="0">
              <a:solidFill>
                <a:srgbClr val="52B788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3337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1E1E"/>
                </a:solidFill>
                <a:latin typeface="Calibri"/>
              </a:rPr>
              <a:t>Set de date in </a:t>
            </a:r>
            <a:r>
              <a:rPr sz="1100" b="0" i="0" dirty="0" err="1">
                <a:solidFill>
                  <a:srgbClr val="1E1E1E"/>
                </a:solidFill>
                <a:latin typeface="Calibri"/>
              </a:rPr>
              <a:t>conditii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1E1E1E"/>
                </a:solidFill>
                <a:latin typeface="Calibri"/>
              </a:rPr>
              <a:t>laborator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E1E1E"/>
                </a:solidFill>
                <a:latin typeface="Calibri"/>
              </a:rPr>
              <a:t>controlate</a:t>
            </a:r>
            <a:r>
              <a:rPr lang="en-US" sz="1100" dirty="0">
                <a:solidFill>
                  <a:srgbClr val="1E1E1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E1E1E"/>
                </a:solidFill>
                <a:latin typeface="Calibri"/>
              </a:rPr>
              <a:t>pentru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 6 </a:t>
            </a:r>
            <a:r>
              <a:rPr sz="1100" b="0" i="0" dirty="0" err="1">
                <a:solidFill>
                  <a:srgbClr val="1E1E1E"/>
                </a:solidFill>
                <a:latin typeface="Calibri"/>
              </a:rPr>
              <a:t>clase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1E1E1E"/>
                </a:solidFill>
                <a:latin typeface="Calibri"/>
              </a:rPr>
              <a:t>fructe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 (</a:t>
            </a:r>
            <a:r>
              <a:rPr lang="en-US" sz="1100" b="0" i="0" dirty="0">
                <a:solidFill>
                  <a:srgbClr val="1E1E1E"/>
                </a:solidFill>
                <a:latin typeface="Calibri"/>
              </a:rPr>
              <a:t>3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E1E1E"/>
                </a:solidFill>
                <a:latin typeface="Calibri"/>
              </a:rPr>
              <a:t>operatori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, 3 </a:t>
            </a:r>
            <a:r>
              <a:rPr sz="1100" b="0" i="0" dirty="0" err="1">
                <a:solidFill>
                  <a:srgbClr val="1E1E1E"/>
                </a:solidFill>
                <a:latin typeface="Calibri"/>
              </a:rPr>
              <a:t>scenarii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7448" y="1188720"/>
            <a:ext cx="41148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27448" y="1188720"/>
            <a:ext cx="548640" cy="169164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45736" y="1645920"/>
            <a:ext cx="5303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12984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845F"/>
                </a:solidFill>
                <a:latin typeface="Calibri"/>
              </a:rPr>
              <a:t>Antrenare MobileNetV2 (Transfer Learning)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1737360"/>
            <a:ext cx="3337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100" b="0" i="0" dirty="0">
                <a:solidFill>
                  <a:srgbClr val="1E1E1E"/>
                </a:solidFill>
                <a:latin typeface="Calibri"/>
              </a:rPr>
              <a:t>MobileNetV2 preantrenat pe ImageNet, fine-tuning pe ultimele 30 straturi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63239"/>
            <a:ext cx="41148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3063239"/>
            <a:ext cx="548640" cy="16916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" y="3520439"/>
            <a:ext cx="5303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172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5 Scenarii de Testare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11879"/>
            <a:ext cx="3337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100" b="0" i="0" dirty="0" err="1">
                <a:solidFill>
                  <a:srgbClr val="1E1E1E"/>
                </a:solidFill>
                <a:latin typeface="Calibri"/>
              </a:rPr>
              <a:t>Evaluare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E1E1E"/>
                </a:solidFill>
                <a:latin typeface="Calibri"/>
              </a:rPr>
              <a:t>comparativa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 cross-dataset</a:t>
            </a:r>
            <a:r>
              <a:rPr lang="en-US" sz="1100" b="0" i="0" dirty="0">
                <a:solidFill>
                  <a:srgbClr val="1E1E1E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cu </a:t>
            </a:r>
            <a:r>
              <a:rPr sz="1100" b="0" i="0" dirty="0" err="1">
                <a:solidFill>
                  <a:srgbClr val="1E1E1E"/>
                </a:solidFill>
                <a:latin typeface="Calibri"/>
              </a:rPr>
              <a:t>combinatii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E1E1E"/>
                </a:solidFill>
                <a:latin typeface="Calibri"/>
              </a:rPr>
              <a:t>diferite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 de date train/test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7448" y="3063239"/>
            <a:ext cx="41148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27448" y="3063239"/>
            <a:ext cx="548640" cy="1691640"/>
          </a:xfrm>
          <a:prstGeom prst="rect">
            <a:avLst/>
          </a:prstGeom>
          <a:solidFill>
            <a:srgbClr val="74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5736" y="3520439"/>
            <a:ext cx="5303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3172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5CC4"/>
                </a:solidFill>
                <a:latin typeface="Calibri"/>
              </a:rPr>
              <a:t>Comparatie Surse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3611879"/>
            <a:ext cx="3337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1E1E"/>
                </a:solidFill>
                <a:latin typeface="Calibri"/>
              </a:rPr>
              <a:t>Analiza </a:t>
            </a:r>
            <a:r>
              <a:rPr sz="1100" b="0" i="0" dirty="0" err="1">
                <a:solidFill>
                  <a:srgbClr val="1E1E1E"/>
                </a:solidFill>
                <a:latin typeface="Calibri"/>
              </a:rPr>
              <a:t>performantelor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: date propri</a:t>
            </a:r>
            <a:r>
              <a:rPr lang="en-US" sz="1100" b="0" i="0" dirty="0">
                <a:solidFill>
                  <a:srgbClr val="1E1E1E"/>
                </a:solidFill>
                <a:latin typeface="Calibri"/>
              </a:rPr>
              <a:t>a</a:t>
            </a:r>
            <a:r>
              <a:rPr lang="en-US" sz="1100" dirty="0">
                <a:solidFill>
                  <a:srgbClr val="1E1E1E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vs. date </a:t>
            </a:r>
            <a:r>
              <a:rPr sz="1100" b="0" i="0" dirty="0" err="1">
                <a:solidFill>
                  <a:srgbClr val="1E1E1E"/>
                </a:solidFill>
                <a:latin typeface="Calibri"/>
              </a:rPr>
              <a:t>publice</a:t>
            </a:r>
            <a:r>
              <a:rPr sz="1100" b="0" i="0" dirty="0">
                <a:solidFill>
                  <a:srgbClr val="1E1E1E"/>
                </a:solidFill>
                <a:latin typeface="Calibri"/>
              </a:rPr>
              <a:t> Fruits-360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Procesul de Achizitie &amp;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B788"/>
                </a:solidFill>
                <a:latin typeface="Calibr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393192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78992"/>
            <a:ext cx="73152" cy="381304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Informatii Generale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554480"/>
            <a:ext cx="3749039" cy="438912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Data inceput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6276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02.04.2026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8483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Data sfarsit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0848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28.05.2026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468880"/>
            <a:ext cx="3749039" cy="438912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54203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Mediu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5420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Laborator indoor, controlat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9923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Operatori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9992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3 persoane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383280"/>
            <a:ext cx="3749039" cy="438912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45643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Setup-uri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56432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1E1E1E"/>
                </a:solidFill>
                <a:latin typeface="Calibri"/>
              </a:rPr>
              <a:t>DSLR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1363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Costuri estimate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9136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~100 RON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4297680"/>
            <a:ext cx="3749039" cy="438912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37083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Nr. clase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3708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6 clase de fructe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1078992"/>
            <a:ext cx="425196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617720" y="1078992"/>
            <a:ext cx="73152" cy="3813048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28032" y="1609344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C05020"/>
                </a:solidFill>
                <a:latin typeface="Calibri"/>
              </a:rPr>
              <a:t>Echipamente</a:t>
            </a:r>
            <a:r>
              <a:rPr sz="1600" b="1" i="0" dirty="0">
                <a:solidFill>
                  <a:srgbClr val="C05020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C05020"/>
                </a:solidFill>
                <a:latin typeface="Calibri"/>
              </a:rPr>
              <a:t>Folosite</a:t>
            </a:r>
            <a:endParaRPr sz="1600" b="1" i="0" dirty="0">
              <a:solidFill>
                <a:srgbClr val="C05020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690872" y="2377440"/>
            <a:ext cx="4114800" cy="1165235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2432304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B4332"/>
                </a:solidFill>
                <a:latin typeface="Calibri"/>
              </a:rPr>
              <a:t>Canon </a:t>
            </a:r>
            <a:r>
              <a:rPr lang="en-US" sz="1100" b="1" i="0" dirty="0">
                <a:solidFill>
                  <a:srgbClr val="1B4332"/>
                </a:solidFill>
                <a:latin typeface="Calibri"/>
              </a:rPr>
              <a:t>6</a:t>
            </a:r>
            <a:r>
              <a:rPr sz="1100" b="1" i="0" dirty="0">
                <a:solidFill>
                  <a:srgbClr val="1B4332"/>
                </a:solidFill>
                <a:latin typeface="Calibri"/>
              </a:rPr>
              <a:t>550D (DSLR)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816352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1E1E1E"/>
                </a:solidFill>
                <a:latin typeface="Calibri"/>
              </a:rPr>
              <a:t>Senzor</a:t>
            </a:r>
            <a:r>
              <a:rPr sz="1000" b="0" dirty="0">
                <a:solidFill>
                  <a:srgbClr val="1E1E1E"/>
                </a:solidFill>
                <a:latin typeface="Calibri"/>
              </a:rPr>
              <a:t>: APS-C CMOS, 18 MP</a:t>
            </a:r>
          </a:p>
          <a:p>
            <a:pPr algn="l"/>
            <a:r>
              <a:rPr sz="1000" b="0" dirty="0" err="1">
                <a:solidFill>
                  <a:srgbClr val="1E1E1E"/>
                </a:solidFill>
                <a:latin typeface="Calibri"/>
              </a:rPr>
              <a:t>Rezolutie</a:t>
            </a:r>
            <a:r>
              <a:rPr sz="1000" b="0" dirty="0">
                <a:solidFill>
                  <a:srgbClr val="1E1E1E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1E1E1E"/>
                </a:solidFill>
                <a:latin typeface="Calibri"/>
              </a:rPr>
              <a:t>captura</a:t>
            </a:r>
            <a:r>
              <a:rPr sz="1000" b="0" dirty="0">
                <a:solidFill>
                  <a:srgbClr val="1E1E1E"/>
                </a:solidFill>
                <a:latin typeface="Calibri"/>
              </a:rPr>
              <a:t>: 5184 x 3456 </a:t>
            </a:r>
            <a:r>
              <a:rPr sz="1000" b="0" dirty="0" err="1">
                <a:solidFill>
                  <a:srgbClr val="1E1E1E"/>
                </a:solidFill>
                <a:latin typeface="Calibri"/>
              </a:rPr>
              <a:t>px</a:t>
            </a:r>
            <a:r>
              <a:rPr sz="1000" b="0" dirty="0">
                <a:solidFill>
                  <a:srgbClr val="1E1E1E"/>
                </a:solidFill>
                <a:latin typeface="Calibri"/>
              </a:rPr>
              <a:t> (RGB)</a:t>
            </a:r>
          </a:p>
          <a:p>
            <a:pPr algn="l"/>
            <a:r>
              <a:rPr sz="1000" b="0" dirty="0">
                <a:solidFill>
                  <a:srgbClr val="1E1E1E"/>
                </a:solidFill>
                <a:latin typeface="Calibri"/>
              </a:rPr>
              <a:t>Autofocus, </a:t>
            </a:r>
            <a:r>
              <a:rPr sz="1000" b="0" dirty="0" err="1">
                <a:solidFill>
                  <a:srgbClr val="1E1E1E"/>
                </a:solidFill>
                <a:latin typeface="Calibri"/>
              </a:rPr>
              <a:t>expunere</a:t>
            </a:r>
            <a:r>
              <a:rPr sz="1000" b="0" dirty="0">
                <a:solidFill>
                  <a:srgbClr val="1E1E1E"/>
                </a:solidFill>
                <a:latin typeface="Calibri"/>
              </a:rPr>
              <a:t> automata, ISO </a:t>
            </a:r>
            <a:r>
              <a:rPr sz="1000" b="0" dirty="0" err="1">
                <a:solidFill>
                  <a:srgbClr val="1E1E1E"/>
                </a:solidFill>
                <a:latin typeface="Calibri"/>
              </a:rPr>
              <a:t>reglabil</a:t>
            </a:r>
            <a:endParaRPr sz="1000" b="0" dirty="0">
              <a:solidFill>
                <a:srgbClr val="1E1E1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Cele 6 Clase de Fructe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B788"/>
                </a:solidFill>
                <a:latin typeface="Calibr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889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88920" cy="43891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7043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MAR GRANNY SMITH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6002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332"/>
                </a:solidFill>
                <a:latin typeface="Calibri"/>
              </a:rPr>
              <a:t>Apple Granny 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993391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66666"/>
                </a:solidFill>
                <a:latin typeface="Calibri"/>
              </a:rPr>
              <a:t>Mar </a:t>
            </a:r>
            <a:r>
              <a:rPr sz="1000" b="0" i="0" dirty="0" err="1">
                <a:solidFill>
                  <a:srgbClr val="666666"/>
                </a:solidFill>
                <a:latin typeface="Calibri"/>
              </a:rPr>
              <a:t>verde</a:t>
            </a:r>
            <a:endParaRPr lang="en-US" sz="1000" dirty="0">
              <a:solidFill>
                <a:srgbClr val="666666"/>
              </a:solidFill>
              <a:latin typeface="Calibri"/>
            </a:endParaRPr>
          </a:p>
          <a:p>
            <a:pPr algn="l"/>
            <a:r>
              <a:rPr lang="en-US" sz="1000" dirty="0">
                <a:solidFill>
                  <a:srgbClr val="666666"/>
                </a:solidFill>
                <a:latin typeface="Calibri"/>
              </a:rPr>
              <a:t>T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extura </a:t>
            </a:r>
            <a:r>
              <a:rPr sz="1000" b="0" i="0" dirty="0" err="1">
                <a:solidFill>
                  <a:srgbClr val="666666"/>
                </a:solidFill>
                <a:latin typeface="Calibri"/>
              </a:rPr>
              <a:t>neteda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73551" y="1097280"/>
            <a:ext cx="27889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73551" y="1097280"/>
            <a:ext cx="2788920" cy="43891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46703" y="117043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11887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MAR ROSU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3" y="16002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Apple 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3" y="1993391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66666"/>
                </a:solidFill>
                <a:latin typeface="Calibri"/>
              </a:rPr>
              <a:t>Mar </a:t>
            </a:r>
            <a:r>
              <a:rPr sz="1000" b="0" i="0" dirty="0" err="1">
                <a:solidFill>
                  <a:srgbClr val="666666"/>
                </a:solidFill>
                <a:latin typeface="Calibri"/>
              </a:rPr>
              <a:t>rosu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/</a:t>
            </a:r>
            <a:r>
              <a:rPr lang="en-US" sz="1000" dirty="0" err="1">
                <a:solidFill>
                  <a:srgbClr val="666666"/>
                </a:solidFill>
                <a:latin typeface="Calibri"/>
              </a:rPr>
              <a:t>galben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,</a:t>
            </a:r>
            <a:endParaRPr lang="en-US" sz="1000" b="0" i="0" dirty="0">
              <a:solidFill>
                <a:srgbClr val="666666"/>
              </a:solidFill>
              <a:latin typeface="Calibri"/>
            </a:endParaRPr>
          </a:p>
          <a:p>
            <a:pPr algn="l"/>
            <a:r>
              <a:rPr lang="en-US" sz="1000" b="0" i="0" dirty="0" err="1">
                <a:solidFill>
                  <a:srgbClr val="666666"/>
                </a:solidFill>
                <a:latin typeface="Calibri"/>
              </a:rPr>
              <a:t>D</a:t>
            </a:r>
            <a:r>
              <a:rPr sz="1000" b="0" i="0" dirty="0" err="1">
                <a:solidFill>
                  <a:srgbClr val="666666"/>
                </a:solidFill>
                <a:latin typeface="Calibri"/>
              </a:rPr>
              <a:t>iferite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Calibri"/>
              </a:rPr>
              <a:t>varietati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72783" y="1097280"/>
            <a:ext cx="27889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72783" y="1097280"/>
            <a:ext cx="2788920" cy="438912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17043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3" y="11887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BANANA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16002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00"/>
                </a:solidFill>
                <a:latin typeface="Calibri"/>
              </a:rPr>
              <a:t>Banana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9519" y="1884777"/>
            <a:ext cx="26517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666666"/>
                </a:solidFill>
                <a:latin typeface="Calibri"/>
              </a:rPr>
              <a:t>Galbena</a:t>
            </a:r>
            <a:endParaRPr lang="en-US" sz="1000" dirty="0">
              <a:solidFill>
                <a:srgbClr val="666666"/>
              </a:solidFill>
              <a:latin typeface="Calibri"/>
            </a:endParaRPr>
          </a:p>
          <a:p>
            <a:pPr algn="l"/>
            <a:r>
              <a:rPr lang="en-US" sz="1000" dirty="0" err="1">
                <a:solidFill>
                  <a:srgbClr val="666666"/>
                </a:solidFill>
                <a:latin typeface="Calibri"/>
              </a:rPr>
              <a:t>D</a:t>
            </a:r>
            <a:r>
              <a:rPr sz="1000" b="0" i="0" dirty="0" err="1">
                <a:solidFill>
                  <a:srgbClr val="666666"/>
                </a:solidFill>
                <a:latin typeface="Calibri"/>
              </a:rPr>
              <a:t>iferite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grade </a:t>
            </a:r>
            <a:endParaRPr lang="en-US" sz="1000" b="0" i="0" dirty="0">
              <a:solidFill>
                <a:srgbClr val="666666"/>
              </a:solidFill>
              <a:latin typeface="Calibri"/>
            </a:endParaRPr>
          </a:p>
          <a:p>
            <a:pPr algn="l"/>
            <a:r>
              <a:rPr sz="1000" b="0" i="0" dirty="0">
                <a:solidFill>
                  <a:srgbClr val="666666"/>
                </a:solidFill>
                <a:latin typeface="Calibri"/>
              </a:rPr>
              <a:t>de </a:t>
            </a:r>
            <a:r>
              <a:rPr sz="1000" b="0" i="0" dirty="0" err="1">
                <a:solidFill>
                  <a:srgbClr val="666666"/>
                </a:solidFill>
                <a:latin typeface="Calibri"/>
              </a:rPr>
              <a:t>maturitate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4320" y="3063239"/>
            <a:ext cx="27889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063239"/>
            <a:ext cx="2788920" cy="43891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3136391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15467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PORTOCALA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3566159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5020"/>
                </a:solidFill>
                <a:latin typeface="Calibri"/>
              </a:rPr>
              <a:t>Orange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3959352"/>
            <a:ext cx="20309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666666"/>
                </a:solidFill>
                <a:latin typeface="Calibri"/>
              </a:rPr>
              <a:t>Intreaga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73551" y="3063239"/>
            <a:ext cx="27889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73551" y="3063239"/>
            <a:ext cx="2788920" cy="438912"/>
          </a:xfrm>
          <a:prstGeom prst="rect">
            <a:avLst/>
          </a:prstGeom>
          <a:solidFill>
            <a:srgbClr val="9B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6703" y="3136391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0752" y="315467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CAPSUNA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6703" y="3566159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2A2A"/>
                </a:solidFill>
                <a:latin typeface="Calibri"/>
              </a:rPr>
              <a:t>Strawberry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6703" y="3959352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666666"/>
                </a:solidFill>
                <a:latin typeface="Calibri"/>
              </a:rPr>
              <a:t>Diferite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Calibri"/>
              </a:rPr>
              <a:t>marimi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 </a:t>
            </a:r>
            <a:endParaRPr lang="en-US" sz="1000" dirty="0">
              <a:solidFill>
                <a:srgbClr val="666666"/>
              </a:solidFill>
              <a:latin typeface="Calibri"/>
            </a:endParaRPr>
          </a:p>
          <a:p>
            <a:pPr algn="l"/>
            <a:r>
              <a:rPr lang="en-US" sz="1000" b="0" i="0" dirty="0">
                <a:solidFill>
                  <a:srgbClr val="666666"/>
                </a:solidFill>
                <a:latin typeface="Calibri"/>
              </a:rPr>
              <a:t>G</a:t>
            </a:r>
            <a:r>
              <a:rPr sz="1000" b="0" i="0" dirty="0">
                <a:solidFill>
                  <a:srgbClr val="666666"/>
                </a:solidFill>
                <a:latin typeface="Calibri"/>
              </a:rPr>
              <a:t>rade de </a:t>
            </a:r>
            <a:r>
              <a:rPr sz="1000" b="0" i="0" dirty="0" err="1">
                <a:solidFill>
                  <a:srgbClr val="666666"/>
                </a:solidFill>
                <a:latin typeface="Calibri"/>
              </a:rPr>
              <a:t>maturitate</a:t>
            </a:r>
            <a:endParaRPr sz="10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272783" y="3063239"/>
            <a:ext cx="27889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72783" y="3063239"/>
            <a:ext cx="2788920" cy="438912"/>
          </a:xfrm>
          <a:prstGeom prst="rect">
            <a:avLst/>
          </a:prstGeom>
          <a:solidFill>
            <a:srgbClr val="B56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45936" y="3136391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9983" y="315467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NECTARINA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5936" y="3566159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56426"/>
                </a:solidFill>
                <a:latin typeface="Calibri"/>
              </a:rPr>
              <a:t>Nectarine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395935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Galbena/rosie, intreaga</a:t>
            </a:r>
          </a:p>
        </p:txBody>
      </p:sp>
      <p:pic>
        <p:nvPicPr>
          <p:cNvPr id="45" name="Imagine 44">
            <a:extLst>
              <a:ext uri="{FF2B5EF4-FFF2-40B4-BE49-F238E27FC236}">
                <a16:creationId xmlns:a16="http://schemas.microsoft.com/office/drawing/2014/main" id="{9693EE58-D332-D120-7FC6-D6D98A429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167" y="1628804"/>
            <a:ext cx="1311300" cy="1129284"/>
          </a:xfrm>
          <a:prstGeom prst="rect">
            <a:avLst/>
          </a:prstGeom>
        </p:spPr>
      </p:pic>
      <p:pic>
        <p:nvPicPr>
          <p:cNvPr id="47" name="Imagine 46">
            <a:extLst>
              <a:ext uri="{FF2B5EF4-FFF2-40B4-BE49-F238E27FC236}">
                <a16:creationId xmlns:a16="http://schemas.microsoft.com/office/drawing/2014/main" id="{FF8A0271-AD0A-C628-5C86-FB8994CC0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150" y="1620773"/>
            <a:ext cx="1264086" cy="1175006"/>
          </a:xfrm>
          <a:prstGeom prst="rect">
            <a:avLst/>
          </a:prstGeom>
        </p:spPr>
      </p:pic>
      <p:pic>
        <p:nvPicPr>
          <p:cNvPr id="49" name="Imagine 48">
            <a:extLst>
              <a:ext uri="{FF2B5EF4-FFF2-40B4-BE49-F238E27FC236}">
                <a16:creationId xmlns:a16="http://schemas.microsoft.com/office/drawing/2014/main" id="{21E4D488-14BB-D9D1-7725-A402B6DFC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7349" y="1649799"/>
            <a:ext cx="1315934" cy="1116954"/>
          </a:xfrm>
          <a:prstGeom prst="rect">
            <a:avLst/>
          </a:prstGeom>
        </p:spPr>
      </p:pic>
      <p:pic>
        <p:nvPicPr>
          <p:cNvPr id="51" name="Imagine 50">
            <a:extLst>
              <a:ext uri="{FF2B5EF4-FFF2-40B4-BE49-F238E27FC236}">
                <a16:creationId xmlns:a16="http://schemas.microsoft.com/office/drawing/2014/main" id="{A4AE1DFB-5747-97F0-FB5B-DDE6C509FE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7150" y="3566158"/>
            <a:ext cx="1212623" cy="1259591"/>
          </a:xfrm>
          <a:prstGeom prst="rect">
            <a:avLst/>
          </a:prstGeom>
        </p:spPr>
      </p:pic>
      <p:pic>
        <p:nvPicPr>
          <p:cNvPr id="53" name="Imagine 52">
            <a:extLst>
              <a:ext uri="{FF2B5EF4-FFF2-40B4-BE49-F238E27FC236}">
                <a16:creationId xmlns:a16="http://schemas.microsoft.com/office/drawing/2014/main" id="{34E3AAF8-8734-3EC2-2BD4-202A917CAF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4477" y="3600177"/>
            <a:ext cx="1158806" cy="1148116"/>
          </a:xfrm>
          <a:prstGeom prst="rect">
            <a:avLst/>
          </a:prstGeom>
        </p:spPr>
      </p:pic>
      <p:pic>
        <p:nvPicPr>
          <p:cNvPr id="55" name="Imagine 54">
            <a:extLst>
              <a:ext uri="{FF2B5EF4-FFF2-40B4-BE49-F238E27FC236}">
                <a16:creationId xmlns:a16="http://schemas.microsoft.com/office/drawing/2014/main" id="{7B6C893F-6AE2-75ED-DD2C-0375A88639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7223" y="3566159"/>
            <a:ext cx="1421240" cy="1116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Setul de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B788"/>
                </a:solidFill>
                <a:latin typeface="Calibr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402336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78992"/>
            <a:ext cx="73152" cy="381304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Fruits-360 (Dataset Public)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kaggle.com/datasets/moltean/fruits  |  CC BY-SA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856231"/>
            <a:ext cx="3749039" cy="448056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929384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Clase totale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2938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130+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9572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Imagini 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39572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~67 692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788920"/>
            <a:ext cx="3749039" cy="448056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862072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Imagini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6207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~22 688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28415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Dimensiune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328415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100x100 px (RGB)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721608"/>
            <a:ext cx="3749039" cy="448056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94760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Fundal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79476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Alb uniform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61104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Raport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26110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~75% train / 25% 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1078992"/>
            <a:ext cx="402336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46320" y="1078992"/>
            <a:ext cx="73152" cy="3813048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7492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5020"/>
                </a:solidFill>
                <a:latin typeface="Calibri"/>
              </a:rPr>
              <a:t>Achizitie Proprie (Laborator)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15361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Structura compatibila cu Fruits-360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19472" y="1856231"/>
            <a:ext cx="3749039" cy="448056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74920" y="1929384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5020"/>
                </a:solidFill>
                <a:latin typeface="Calibri"/>
              </a:rPr>
              <a:t>Clase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929384"/>
            <a:ext cx="2011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1E1E1E"/>
                </a:solidFill>
                <a:latin typeface="Calibri"/>
              </a:rPr>
              <a:t>6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239572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5020"/>
                </a:solidFill>
                <a:latin typeface="Calibri"/>
              </a:rPr>
              <a:t>Imagini train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39572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~3 120 (~520/clasa)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19472" y="2788920"/>
            <a:ext cx="3749039" cy="448056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4920" y="2862072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5020"/>
                </a:solidFill>
                <a:latin typeface="Calibri"/>
              </a:rPr>
              <a:t>Imagini 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86207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~1 044 (~174/clasa)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3328415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5020"/>
                </a:solidFill>
                <a:latin typeface="Calibri"/>
              </a:rPr>
              <a:t>Dimensiune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328415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100x100 px (RGB)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19472" y="3721608"/>
            <a:ext cx="3749039" cy="448056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74920" y="3794760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5020"/>
                </a:solidFill>
                <a:latin typeface="Calibri"/>
              </a:rPr>
              <a:t>Fundal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79476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Alb uniform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4261104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5020"/>
                </a:solidFill>
                <a:latin typeface="Calibri"/>
              </a:rPr>
              <a:t>Raport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26110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~75% train / 25%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Preprocesare &amp; Uniformizare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B788"/>
                </a:solidFill>
                <a:latin typeface="Calibr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1662971"/>
            <a:ext cx="1325880" cy="22747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1662971"/>
            <a:ext cx="1325880" cy="5029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75441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2229899"/>
            <a:ext cx="1216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 err="1">
                <a:solidFill>
                  <a:srgbClr val="52B788"/>
                </a:solidFill>
                <a:latin typeface="Calibri"/>
              </a:rPr>
              <a:t>Captura</a:t>
            </a:r>
            <a:r>
              <a:rPr sz="1200" b="1" i="0" dirty="0">
                <a:solidFill>
                  <a:srgbClr val="52B788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52B788"/>
                </a:solidFill>
                <a:latin typeface="Calibri"/>
              </a:rPr>
              <a:t>Imagini</a:t>
            </a:r>
            <a:endParaRPr sz="1200" b="1" i="0" dirty="0">
              <a:solidFill>
                <a:srgbClr val="52B788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" y="2652813"/>
            <a:ext cx="145389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66666"/>
                </a:solidFill>
                <a:latin typeface="Calibri"/>
              </a:rPr>
              <a:t>DSLR 
Fundal </a:t>
            </a:r>
            <a:r>
              <a:rPr sz="1100" b="0" i="0" dirty="0" err="1">
                <a:solidFill>
                  <a:srgbClr val="666666"/>
                </a:solidFill>
                <a:latin typeface="Calibri"/>
              </a:rPr>
              <a:t>alb</a:t>
            </a:r>
            <a:r>
              <a:rPr sz="1100" b="0" i="0" dirty="0">
                <a:solidFill>
                  <a:srgbClr val="666666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666666"/>
                </a:solidFill>
                <a:latin typeface="Calibri"/>
              </a:rPr>
              <a:t>Iluminare</a:t>
            </a:r>
            <a:r>
              <a:rPr sz="1100" b="0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Calibri"/>
              </a:rPr>
              <a:t>controlata</a:t>
            </a:r>
            <a:endParaRPr sz="11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81912" y="2531651"/>
            <a:ext cx="13716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91640" y="2467643"/>
            <a:ext cx="45720" cy="16459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19072" y="1662971"/>
            <a:ext cx="1325880" cy="22747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19072" y="1662971"/>
            <a:ext cx="132588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03704" y="175441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3936" y="2229899"/>
            <a:ext cx="1216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B4332"/>
                </a:solidFill>
                <a:latin typeface="Calibri"/>
              </a:rPr>
              <a:t>Segmentare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3936" y="2823703"/>
            <a:ext cx="12161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 err="1">
                <a:solidFill>
                  <a:srgbClr val="666666"/>
                </a:solidFill>
                <a:latin typeface="Calibri"/>
              </a:rPr>
              <a:t>Eliminare</a:t>
            </a:r>
            <a:r>
              <a:rPr sz="1100" b="0" i="0" dirty="0">
                <a:solidFill>
                  <a:srgbClr val="666666"/>
                </a:solidFill>
                <a:latin typeface="Calibri"/>
              </a:rPr>
              <a:t> fundal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44952" y="2531651"/>
            <a:ext cx="137160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54680" y="2467643"/>
            <a:ext cx="45720" cy="16459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82112" y="1662971"/>
            <a:ext cx="1325880" cy="22747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82112" y="1662971"/>
            <a:ext cx="1325880" cy="5029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66744" y="175441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6976" y="2229899"/>
            <a:ext cx="1216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 err="1">
                <a:solidFill>
                  <a:srgbClr val="52B788"/>
                </a:solidFill>
                <a:latin typeface="Calibri"/>
              </a:rPr>
              <a:t>Redimensionare</a:t>
            </a:r>
            <a:endParaRPr sz="1000" b="1" i="0" dirty="0">
              <a:solidFill>
                <a:srgbClr val="52B788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36976" y="2737451"/>
            <a:ext cx="12161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66666"/>
                </a:solidFill>
                <a:latin typeface="Calibri"/>
              </a:rPr>
              <a:t>100x100 </a:t>
            </a:r>
            <a:r>
              <a:rPr sz="1100" b="0" i="0" dirty="0" err="1">
                <a:solidFill>
                  <a:srgbClr val="666666"/>
                </a:solidFill>
                <a:latin typeface="Calibri"/>
              </a:rPr>
              <a:t>px</a:t>
            </a:r>
            <a:r>
              <a:rPr sz="1100" b="0" i="0" dirty="0">
                <a:solidFill>
                  <a:srgbClr val="666666"/>
                </a:solidFill>
                <a:latin typeface="Calibri"/>
              </a:rPr>
              <a:t>
RGB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7992" y="2531651"/>
            <a:ext cx="13716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17720" y="2467643"/>
            <a:ext cx="45720" cy="16459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45152" y="1662971"/>
            <a:ext cx="1325880" cy="22747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645152" y="1662971"/>
            <a:ext cx="132588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9784" y="175441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16" y="2229899"/>
            <a:ext cx="1216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 err="1">
                <a:solidFill>
                  <a:srgbClr val="1B4332"/>
                </a:solidFill>
                <a:latin typeface="Calibri"/>
              </a:rPr>
              <a:t>Augmentare</a:t>
            </a:r>
            <a:endParaRPr sz="1200" b="1" i="0" dirty="0">
              <a:solidFill>
                <a:srgbClr val="1B4332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00016" y="2496687"/>
            <a:ext cx="12161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dirty="0">
                <a:solidFill>
                  <a:srgbClr val="666666"/>
                </a:solidFill>
                <a:latin typeface="Calibri"/>
              </a:rPr>
              <a:t>
</a:t>
            </a:r>
            <a:r>
              <a:rPr lang="en-US" sz="1100" dirty="0">
                <a:solidFill>
                  <a:srgbClr val="666666"/>
                </a:solidFill>
                <a:latin typeface="Calibri"/>
              </a:rPr>
              <a:t>flip, </a:t>
            </a:r>
            <a:r>
              <a:rPr lang="en-US" sz="1100" dirty="0" err="1">
                <a:solidFill>
                  <a:srgbClr val="666666"/>
                </a:solidFill>
                <a:latin typeface="Calibri"/>
              </a:rPr>
              <a:t>rotatie</a:t>
            </a:r>
            <a:r>
              <a:rPr lang="en-US" sz="1100" dirty="0">
                <a:solidFill>
                  <a:srgbClr val="666666"/>
                </a:solidFill>
                <a:latin typeface="Calibri"/>
              </a:rPr>
              <a:t>, zoom shift, blur</a:t>
            </a:r>
            <a:r>
              <a:rPr lang="ro-RO" sz="1100" dirty="0">
                <a:solidFill>
                  <a:srgbClr val="666666"/>
                </a:solidFill>
                <a:latin typeface="Calibri"/>
              </a:rPr>
              <a:t>,</a:t>
            </a:r>
            <a:r>
              <a:rPr lang="en-US" sz="1100" dirty="0">
                <a:solidFill>
                  <a:srgbClr val="666666"/>
                </a:solidFill>
                <a:latin typeface="Calibri"/>
              </a:rPr>
              <a:t> contrast</a:t>
            </a:r>
            <a:r>
              <a:rPr lang="ro-RO" sz="1100" dirty="0">
                <a:solidFill>
                  <a:srgbClr val="666666"/>
                </a:solidFill>
                <a:latin typeface="Calibri"/>
              </a:rPr>
              <a:t>,</a:t>
            </a:r>
            <a:r>
              <a:rPr lang="en-US" sz="1100" dirty="0">
                <a:solidFill>
                  <a:srgbClr val="666666"/>
                </a:solidFill>
                <a:latin typeface="Calibri"/>
              </a:rPr>
              <a:t> saturation, noise</a:t>
            </a:r>
            <a:r>
              <a:rPr lang="ro-RO" sz="1100" dirty="0">
                <a:solidFill>
                  <a:srgbClr val="666666"/>
                </a:solidFill>
                <a:latin typeface="Calibri"/>
              </a:rPr>
              <a:t>, </a:t>
            </a:r>
            <a:r>
              <a:rPr lang="en-US" sz="1100" dirty="0">
                <a:solidFill>
                  <a:srgbClr val="666666"/>
                </a:solidFill>
                <a:latin typeface="Calibri"/>
              </a:rPr>
              <a:t>sharpness</a:t>
            </a:r>
            <a:endParaRPr lang="it-IT" sz="110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971032" y="2531651"/>
            <a:ext cx="137160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80760" y="2467643"/>
            <a:ext cx="45720" cy="16459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08192" y="1662971"/>
            <a:ext cx="1325880" cy="22747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08192" y="1662971"/>
            <a:ext cx="1325880" cy="5029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92824" y="175441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3056" y="2229899"/>
            <a:ext cx="1216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 err="1">
                <a:solidFill>
                  <a:srgbClr val="52B788"/>
                </a:solidFill>
                <a:latin typeface="Calibri"/>
              </a:rPr>
              <a:t>Normalizare</a:t>
            </a:r>
            <a:endParaRPr sz="1000" b="1" i="0" dirty="0">
              <a:solidFill>
                <a:srgbClr val="52B788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63056" y="2741962"/>
            <a:ext cx="12161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66666"/>
                </a:solidFill>
                <a:latin typeface="Calibri"/>
              </a:rPr>
              <a:t>[0,255] → [0,1]
rescale=1./255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34072" y="2531651"/>
            <a:ext cx="13716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543800" y="2467643"/>
            <a:ext cx="45720" cy="16459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571232" y="1662971"/>
            <a:ext cx="1325880" cy="22747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571232" y="1662971"/>
            <a:ext cx="1325880" cy="50292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55864" y="1754411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2229899"/>
            <a:ext cx="1216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4845F"/>
                </a:solidFill>
                <a:latin typeface="Calibri"/>
              </a:rPr>
              <a:t>Organizare</a:t>
            </a:r>
            <a:endParaRPr sz="1000" b="1" i="0" dirty="0">
              <a:solidFill>
                <a:srgbClr val="F4845F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26096" y="2741962"/>
            <a:ext cx="12161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 err="1">
                <a:solidFill>
                  <a:srgbClr val="666666"/>
                </a:solidFill>
                <a:latin typeface="Calibri"/>
              </a:rPr>
              <a:t>Training/ + Test/
Sortare pe clase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Augmentarea Datelor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B788"/>
                </a:solidFill>
                <a:latin typeface="Calibr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475488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78992"/>
            <a:ext cx="73152" cy="381304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4389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B4332"/>
                </a:solidFill>
                <a:latin typeface="Calibri"/>
              </a:rPr>
              <a:t>Tehnici</a:t>
            </a:r>
            <a:r>
              <a:rPr sz="1300" b="1" i="0" dirty="0">
                <a:solidFill>
                  <a:srgbClr val="1B4332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B4332"/>
                </a:solidFill>
                <a:latin typeface="Calibri"/>
              </a:rPr>
              <a:t>Aplicate</a:t>
            </a:r>
            <a:r>
              <a:rPr sz="1300" b="1" i="0" dirty="0">
                <a:solidFill>
                  <a:srgbClr val="1B4332"/>
                </a:solidFill>
                <a:latin typeface="Calibri"/>
              </a:rPr>
              <a:t> - </a:t>
            </a:r>
            <a:r>
              <a:rPr sz="1300" b="1" i="0" dirty="0" err="1">
                <a:solidFill>
                  <a:srgbClr val="1B4332"/>
                </a:solidFill>
                <a:latin typeface="Calibri"/>
              </a:rPr>
              <a:t>Augmentare</a:t>
            </a:r>
            <a:r>
              <a:rPr sz="1300" b="1" i="0" dirty="0">
                <a:solidFill>
                  <a:srgbClr val="1B4332"/>
                </a:solidFill>
                <a:latin typeface="Calibri"/>
              </a:rPr>
              <a:t> cu PIL (augmentare.py)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572768"/>
            <a:ext cx="4572000" cy="38404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Augmentare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16276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Parametru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16276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Justificare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011680"/>
            <a:ext cx="4572000" cy="438912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08483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Rotatie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08483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unghi in {±10, ±15, ±20, ±30}°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084832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Fructele pot fi in orice orientare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54203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Translatie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254203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max 8% din dimensiune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42032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Fructul nu e centrat perfect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2926080"/>
            <a:ext cx="4572000" cy="438912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299923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Translatie 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299923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max 8% din dimensiune (vertical)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7248" y="2999232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Idem, pe axa verticala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5643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Forfecare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45643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factor in [-0.12, 0.12]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3456432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Schimbari de perspectiva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3840480"/>
            <a:ext cx="4572000" cy="438912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91363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Zoom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391363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factor in [1.05, 1.20] cu crop centrat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27248" y="3913632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Distante diferite de fotografiere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7083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332"/>
                </a:solidFill>
                <a:latin typeface="Calibri"/>
              </a:rPr>
              <a:t>Flip orizont.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36192" y="437083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Image.FLIP_LEFT_RIGHT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7248" y="4370832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Fara orientare preferentiala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9240" y="1078992"/>
            <a:ext cx="352044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349240" y="1078992"/>
            <a:ext cx="73152" cy="3813048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7784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5020"/>
                </a:solidFill>
                <a:latin typeface="Calibri"/>
              </a:rPr>
              <a:t>Nota importanta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8380" y="1942334"/>
            <a:ext cx="355932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C05020"/>
                </a:solidFill>
                <a:latin typeface="Calibri"/>
              </a:rPr>
              <a:t>Augmentare</a:t>
            </a:r>
            <a:r>
              <a:rPr sz="1200" b="1" dirty="0">
                <a:solidFill>
                  <a:srgbClr val="C05020"/>
                </a:solidFill>
                <a:latin typeface="Calibri"/>
              </a:rPr>
              <a:t> </a:t>
            </a:r>
            <a:r>
              <a:rPr sz="1200" dirty="0">
                <a:solidFill>
                  <a:srgbClr val="C05020"/>
                </a:solidFill>
                <a:latin typeface="Calibri"/>
              </a:rPr>
              <a:t>cu PIL </a:t>
            </a:r>
            <a:r>
              <a:rPr lang="ro-RO" sz="1200" b="1" dirty="0">
                <a:solidFill>
                  <a:srgbClr val="C05020"/>
                </a:solidFill>
                <a:latin typeface="Calibri"/>
              </a:rPr>
              <a:t>+</a:t>
            </a:r>
            <a:r>
              <a:rPr sz="1200" b="1" dirty="0">
                <a:solidFill>
                  <a:srgbClr val="C05020"/>
                </a:solidFill>
                <a:latin typeface="Calibri"/>
              </a:rPr>
              <a:t> </a:t>
            </a:r>
            <a:r>
              <a:rPr lang="ro-RO" sz="1200" b="1" dirty="0" err="1">
                <a:solidFill>
                  <a:srgbClr val="C05020"/>
                </a:solidFill>
                <a:latin typeface="Calibri"/>
              </a:rPr>
              <a:t>rescale</a:t>
            </a:r>
            <a:r>
              <a:rPr lang="ro-RO" sz="1200" b="1" dirty="0">
                <a:solidFill>
                  <a:srgbClr val="C05020"/>
                </a:solidFill>
                <a:latin typeface="Calibri"/>
              </a:rPr>
              <a:t> </a:t>
            </a:r>
            <a:r>
              <a:rPr lang="ro-RO" sz="1200" dirty="0">
                <a:solidFill>
                  <a:srgbClr val="C05020"/>
                </a:solidFill>
                <a:latin typeface="Calibri"/>
              </a:rPr>
              <a:t>cu</a:t>
            </a:r>
            <a:r>
              <a:rPr lang="ro-RO" sz="1200" b="1" dirty="0">
                <a:solidFill>
                  <a:srgbClr val="C0502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C05020"/>
                </a:solidFill>
                <a:latin typeface="Calibri"/>
              </a:rPr>
              <a:t>ImageDataGenerator</a:t>
            </a:r>
            <a:endParaRPr sz="1200" dirty="0">
              <a:solidFill>
                <a:srgbClr val="C05020"/>
              </a:solidFill>
              <a:latin typeface="Calibri"/>
            </a:endParaRPr>
          </a:p>
          <a:p>
            <a:pPr algn="l"/>
            <a:r>
              <a:rPr sz="1000" b="0" dirty="0">
                <a:solidFill>
                  <a:srgbClr val="1E1E1E"/>
                </a:solidFill>
                <a:latin typeface="Calibri"/>
              </a:rPr>
              <a:t>11 </a:t>
            </a:r>
            <a:r>
              <a:rPr sz="1000" b="0" dirty="0" err="1">
                <a:solidFill>
                  <a:srgbClr val="1E1E1E"/>
                </a:solidFill>
                <a:latin typeface="Calibri"/>
              </a:rPr>
              <a:t>tehnici</a:t>
            </a:r>
            <a:r>
              <a:rPr sz="1000" b="0" dirty="0">
                <a:solidFill>
                  <a:srgbClr val="1E1E1E"/>
                </a:solidFill>
                <a:latin typeface="Calibri"/>
              </a:rPr>
              <a:t> (</a:t>
            </a:r>
            <a:r>
              <a:rPr sz="1000" b="0" dirty="0" err="1">
                <a:solidFill>
                  <a:srgbClr val="1E1E1E"/>
                </a:solidFill>
                <a:latin typeface="Calibri"/>
              </a:rPr>
              <a:t>rotatie</a:t>
            </a:r>
            <a:r>
              <a:rPr sz="1000" b="0" dirty="0">
                <a:solidFill>
                  <a:srgbClr val="1E1E1E"/>
                </a:solidFill>
                <a:latin typeface="Calibri"/>
              </a:rPr>
              <a:t>, contrast, </a:t>
            </a:r>
            <a:r>
              <a:rPr sz="1000" b="0" dirty="0" err="1">
                <a:solidFill>
                  <a:srgbClr val="1E1E1E"/>
                </a:solidFill>
                <a:latin typeface="Calibri"/>
              </a:rPr>
              <a:t>saturatie</a:t>
            </a:r>
            <a:r>
              <a:rPr sz="1000" b="0" dirty="0">
                <a:solidFill>
                  <a:srgbClr val="1E1E1E"/>
                </a:solidFill>
                <a:latin typeface="Calibri"/>
              </a:rPr>
              <a:t>, blur, </a:t>
            </a:r>
            <a:r>
              <a:rPr sz="1000" b="0" dirty="0" err="1">
                <a:solidFill>
                  <a:srgbClr val="1E1E1E"/>
                </a:solidFill>
                <a:latin typeface="Calibri"/>
              </a:rPr>
              <a:t>zgomot</a:t>
            </a:r>
            <a:r>
              <a:rPr sz="1000" b="0" dirty="0">
                <a:solidFill>
                  <a:srgbClr val="1E1E1E"/>
                </a:solidFill>
                <a:latin typeface="Calibri"/>
              </a:rPr>
              <a:t>, zoom, </a:t>
            </a:r>
            <a:endParaRPr lang="ro-RO" sz="1000" b="0" dirty="0">
              <a:solidFill>
                <a:srgbClr val="1E1E1E"/>
              </a:solidFill>
              <a:latin typeface="Calibri"/>
            </a:endParaRPr>
          </a:p>
          <a:p>
            <a:pPr algn="l"/>
            <a:r>
              <a:rPr sz="1000" b="0" dirty="0">
                <a:solidFill>
                  <a:srgbClr val="1E1E1E"/>
                </a:solidFill>
                <a:latin typeface="Calibri"/>
              </a:rPr>
              <a:t>shear, shift).</a:t>
            </a:r>
          </a:p>
          <a:p>
            <a:pPr algn="l"/>
            <a:r>
              <a:rPr sz="1000" b="1" dirty="0">
                <a:solidFill>
                  <a:srgbClr val="1B4332"/>
                </a:solidFill>
                <a:latin typeface="Calibri"/>
              </a:rPr>
              <a:t>TARGET: 694 </a:t>
            </a:r>
            <a:r>
              <a:rPr sz="1000" b="1" dirty="0" err="1">
                <a:solidFill>
                  <a:srgbClr val="1B4332"/>
                </a:solidFill>
                <a:latin typeface="Calibri"/>
              </a:rPr>
              <a:t>imagini</a:t>
            </a:r>
            <a:r>
              <a:rPr sz="1000" b="1" dirty="0">
                <a:solidFill>
                  <a:srgbClr val="1B4332"/>
                </a:solidFill>
                <a:latin typeface="Calibri"/>
              </a:rPr>
              <a:t>/</a:t>
            </a:r>
            <a:r>
              <a:rPr sz="1000" b="1" dirty="0" err="1">
                <a:solidFill>
                  <a:srgbClr val="1B4332"/>
                </a:solidFill>
                <a:latin typeface="Calibri"/>
              </a:rPr>
              <a:t>clasa</a:t>
            </a:r>
            <a:r>
              <a:rPr sz="1000" b="1" dirty="0">
                <a:solidFill>
                  <a:srgbClr val="1B4332"/>
                </a:solidFill>
                <a:latin typeface="Calibri"/>
              </a:rPr>
              <a:t> (</a:t>
            </a:r>
            <a:r>
              <a:rPr sz="1000" b="1" dirty="0" err="1">
                <a:solidFill>
                  <a:srgbClr val="1B4332"/>
                </a:solidFill>
                <a:latin typeface="Calibri"/>
              </a:rPr>
              <a:t>baza</a:t>
            </a:r>
            <a:r>
              <a:rPr sz="1000" b="1" dirty="0">
                <a:solidFill>
                  <a:srgbClr val="1B4332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1B4332"/>
                </a:solidFill>
                <a:latin typeface="Calibri"/>
              </a:rPr>
              <a:t>proprie</a:t>
            </a:r>
            <a:r>
              <a:rPr sz="1000" b="1" dirty="0">
                <a:solidFill>
                  <a:srgbClr val="1B4332"/>
                </a:solidFill>
                <a:latin typeface="Calibri"/>
              </a:rPr>
              <a:t>).</a:t>
            </a:r>
            <a:endParaRPr lang="ro-RO" sz="1000" b="1" dirty="0">
              <a:solidFill>
                <a:srgbClr val="1B4332"/>
              </a:solidFill>
              <a:latin typeface="Calibri"/>
            </a:endParaRPr>
          </a:p>
          <a:p>
            <a:pPr algn="l"/>
            <a:r>
              <a:rPr sz="1000" b="1" dirty="0">
                <a:solidFill>
                  <a:srgbClr val="1B4332"/>
                </a:solidFill>
                <a:latin typeface="Calibri"/>
              </a:rPr>
              <a:t>Seed=42 </a:t>
            </a:r>
            <a:r>
              <a:rPr sz="1000" b="1" dirty="0" err="1">
                <a:solidFill>
                  <a:srgbClr val="1B4332"/>
                </a:solidFill>
                <a:latin typeface="Calibri"/>
              </a:rPr>
              <a:t>pentru</a:t>
            </a:r>
            <a:r>
              <a:rPr sz="1000" b="1" dirty="0">
                <a:solidFill>
                  <a:srgbClr val="1B4332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1B4332"/>
                </a:solidFill>
                <a:latin typeface="Calibri"/>
              </a:rPr>
              <a:t>reproducibilitate</a:t>
            </a:r>
            <a:r>
              <a:rPr sz="1000" b="1" dirty="0">
                <a:solidFill>
                  <a:srgbClr val="1B4332"/>
                </a:solidFill>
                <a:latin typeface="Calibri"/>
              </a:rPr>
              <a:t>.</a:t>
            </a:r>
          </a:p>
          <a:p>
            <a:pPr algn="l"/>
            <a:endParaRPr lang="ro-RO" sz="1000" b="0" dirty="0">
              <a:solidFill>
                <a:srgbClr val="1E1E1E"/>
              </a:solidFill>
              <a:latin typeface="Calibri"/>
            </a:endParaRPr>
          </a:p>
          <a:p>
            <a:pPr algn="l"/>
            <a:r>
              <a:rPr sz="1000" b="0" dirty="0">
                <a:solidFill>
                  <a:srgbClr val="1E1E1E"/>
                </a:solidFill>
                <a:latin typeface="Calibri"/>
              </a:rPr>
              <a:t>1-2 </a:t>
            </a:r>
            <a:r>
              <a:rPr sz="1000" b="0" dirty="0" err="1">
                <a:solidFill>
                  <a:srgbClr val="1E1E1E"/>
                </a:solidFill>
                <a:latin typeface="Calibri"/>
              </a:rPr>
              <a:t>transformari</a:t>
            </a:r>
            <a:r>
              <a:rPr sz="1000" b="0" dirty="0">
                <a:solidFill>
                  <a:srgbClr val="1E1E1E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1E1E1E"/>
                </a:solidFill>
                <a:latin typeface="Calibri"/>
              </a:rPr>
              <a:t>aleatoare</a:t>
            </a:r>
            <a:r>
              <a:rPr sz="1000" b="0" dirty="0">
                <a:solidFill>
                  <a:srgbClr val="1E1E1E"/>
                </a:solidFill>
                <a:latin typeface="Calibri"/>
              </a:rPr>
              <a:t> combinate per imagine</a:t>
            </a:r>
            <a:r>
              <a:rPr lang="ro-RO" sz="1000" dirty="0">
                <a:solidFill>
                  <a:srgbClr val="1E1E1E"/>
                </a:solidFill>
                <a:latin typeface="Calibri"/>
              </a:rPr>
              <a:t>.</a:t>
            </a:r>
          </a:p>
          <a:p>
            <a:pPr algn="l"/>
            <a:endParaRPr lang="en-US" sz="1000" b="0" dirty="0">
              <a:solidFill>
                <a:srgbClr val="1E1E1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772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Georgia"/>
              </a:rPr>
              <a:t>Rezultate</a:t>
            </a:r>
            <a:r>
              <a:rPr sz="2600" b="1" i="0" dirty="0">
                <a:solidFill>
                  <a:srgbClr val="FFFFFF"/>
                </a:solidFill>
                <a:latin typeface="Georgia"/>
              </a:rPr>
              <a:t>: </a:t>
            </a: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4</a:t>
            </a:r>
            <a:r>
              <a:rPr sz="26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Georgia"/>
              </a:rPr>
              <a:t>Scenarii</a:t>
            </a:r>
            <a:r>
              <a:rPr sz="2600" b="1" i="0" dirty="0">
                <a:solidFill>
                  <a:srgbClr val="FFFFFF"/>
                </a:solidFill>
                <a:latin typeface="Georgia"/>
              </a:rPr>
              <a:t> de </a:t>
            </a:r>
            <a:r>
              <a:rPr sz="2600" b="1" i="0" dirty="0" err="1">
                <a:solidFill>
                  <a:srgbClr val="FFFFFF"/>
                </a:solidFill>
                <a:latin typeface="Georgia"/>
              </a:rPr>
              <a:t>Testare</a:t>
            </a: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 - CNN</a:t>
            </a:r>
            <a:endParaRPr sz="26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B788"/>
                </a:solidFill>
                <a:latin typeface="Calibr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3038" y="1088207"/>
            <a:ext cx="1627632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73038" y="1088207"/>
            <a:ext cx="1627632" cy="475488"/>
          </a:xfrm>
          <a:prstGeom prst="rect">
            <a:avLst/>
          </a:prstGeom>
          <a:solidFill>
            <a:srgbClr val="E57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6190" y="116135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758" y="1655135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5734F"/>
                </a:solidFill>
                <a:latin typeface="Calibri"/>
              </a:rPr>
              <a:t>360 -&gt; 360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7046" y="2139767"/>
            <a:ext cx="14996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Train: Fruits-360
Test:  Fruits-360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1054" y="3191327"/>
            <a:ext cx="1371600" cy="82296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8758" y="3191327"/>
            <a:ext cx="15361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i="0">
                <a:solidFill>
                  <a:srgbClr val="E5734F"/>
                </a:solidFill>
                <a:latin typeface="Georgia"/>
              </a:rPr>
              <a:t>100</a:t>
            </a:r>
            <a:r>
              <a:rPr sz="2600" b="1" i="0">
                <a:solidFill>
                  <a:srgbClr val="E5734F"/>
                </a:solidFill>
                <a:latin typeface="Georgia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758" y="4060007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alibri"/>
              </a:rPr>
              <a:t>Acuratete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7830" y="1088207"/>
            <a:ext cx="1627632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37830" y="1088207"/>
            <a:ext cx="1627632" cy="47548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10982" y="116135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3549" y="1655135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4332"/>
                </a:solidFill>
                <a:latin typeface="Calibri"/>
              </a:rPr>
              <a:t>Acq -&gt; Acq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1837" y="2139767"/>
            <a:ext cx="14996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Train: Achizitie
Test:  Achizitie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65846" y="3191327"/>
            <a:ext cx="1371600" cy="82296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01837" y="3184182"/>
            <a:ext cx="146304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rgbClr val="1B4332"/>
                </a:solidFill>
                <a:latin typeface="Georgia"/>
              </a:rPr>
              <a:t>99.90</a:t>
            </a:r>
            <a:r>
              <a:rPr sz="2600" b="1" i="0" dirty="0">
                <a:solidFill>
                  <a:srgbClr val="1B4332"/>
                </a:solidFill>
                <a:latin typeface="Georgia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3549" y="4060007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alibri"/>
              </a:rPr>
              <a:t>Acuratete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2622" y="1088207"/>
            <a:ext cx="1627632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02622" y="1088207"/>
            <a:ext cx="1627632" cy="4754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75774" y="116135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8342" y="1655135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66666"/>
                </a:solidFill>
                <a:latin typeface="Calibri"/>
              </a:rPr>
              <a:t>360 -&gt; Acq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6630" y="2139767"/>
            <a:ext cx="14996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Train: Fruits-360
Test:  Achizitie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30638" y="3191327"/>
            <a:ext cx="1371600" cy="82296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48342" y="3191327"/>
            <a:ext cx="15361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rgbClr val="666666"/>
                </a:solidFill>
                <a:latin typeface="Georgia"/>
              </a:rPr>
              <a:t>72.22%</a:t>
            </a:r>
            <a:endParaRPr sz="2600" b="1" i="0" dirty="0">
              <a:solidFill>
                <a:srgbClr val="666666"/>
              </a:solidFill>
              <a:latin typeface="Georgi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48342" y="4060007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alibri"/>
              </a:rPr>
              <a:t>Acuratete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7414" y="1088207"/>
            <a:ext cx="1627632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67414" y="1088207"/>
            <a:ext cx="1627632" cy="475488"/>
          </a:xfrm>
          <a:prstGeom prst="rect">
            <a:avLst/>
          </a:prstGeom>
          <a:solidFill>
            <a:srgbClr val="C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0566" y="116135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3134" y="1655135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030"/>
                </a:solidFill>
                <a:latin typeface="Calibri"/>
              </a:rPr>
              <a:t>Acq -&gt; 360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1422" y="2139767"/>
            <a:ext cx="14996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Train: Achizitie
Test:  Fruits-360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5429" y="3191327"/>
            <a:ext cx="1371600" cy="82296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3134" y="3191327"/>
            <a:ext cx="15361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rgbClr val="CC3030"/>
                </a:solidFill>
                <a:latin typeface="Georgia"/>
              </a:rPr>
              <a:t>84.43%</a:t>
            </a:r>
            <a:endParaRPr sz="2600" b="1" i="0" dirty="0">
              <a:solidFill>
                <a:srgbClr val="CC3030"/>
              </a:solidFill>
              <a:latin typeface="Georgi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13134" y="4060007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alibri"/>
              </a:rPr>
              <a:t>Acuratete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" y="4389120"/>
            <a:ext cx="8741664" cy="53035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3941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Georgia"/>
              </a:rPr>
              <a:t>Rezultate</a:t>
            </a:r>
            <a:r>
              <a:rPr sz="2600" b="1" i="0" dirty="0">
                <a:solidFill>
                  <a:srgbClr val="FFFFFF"/>
                </a:solidFill>
                <a:latin typeface="Georgia"/>
              </a:rPr>
              <a:t>: 5 </a:t>
            </a:r>
            <a:r>
              <a:rPr sz="2600" b="1" i="0" dirty="0" err="1">
                <a:solidFill>
                  <a:srgbClr val="FFFFFF"/>
                </a:solidFill>
                <a:latin typeface="Georgia"/>
              </a:rPr>
              <a:t>Scenarii</a:t>
            </a:r>
            <a:r>
              <a:rPr sz="2600" b="1" i="0" dirty="0">
                <a:solidFill>
                  <a:srgbClr val="FFFFFF"/>
                </a:solidFill>
                <a:latin typeface="Georgia"/>
              </a:rPr>
              <a:t> de </a:t>
            </a:r>
            <a:r>
              <a:rPr sz="2600" b="1" i="0" dirty="0" err="1">
                <a:solidFill>
                  <a:srgbClr val="FFFFFF"/>
                </a:solidFill>
                <a:latin typeface="Georgia"/>
              </a:rPr>
              <a:t>Testare</a:t>
            </a:r>
            <a:r>
              <a:rPr lang="en-US" sz="2600" b="1" i="0" dirty="0">
                <a:solidFill>
                  <a:srgbClr val="FFFFFF"/>
                </a:solidFill>
                <a:latin typeface="Georgia"/>
              </a:rPr>
              <a:t> - MobileNetV2</a:t>
            </a:r>
            <a:endParaRPr sz="26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03920" y="1828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B788"/>
                </a:solidFill>
                <a:latin typeface="Calibr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" y="1143000"/>
            <a:ext cx="1627632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" y="1143000"/>
            <a:ext cx="1627632" cy="475488"/>
          </a:xfrm>
          <a:prstGeom prst="rect">
            <a:avLst/>
          </a:prstGeom>
          <a:solidFill>
            <a:srgbClr val="E57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161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" y="170992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5734F"/>
                </a:solidFill>
                <a:latin typeface="Calibri"/>
              </a:rPr>
              <a:t>360 -&gt; 360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" y="2194560"/>
            <a:ext cx="14996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Train: Fruits-360
Test:  Fruits-360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3246120"/>
            <a:ext cx="1371600" cy="82296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" y="3246120"/>
            <a:ext cx="15361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i="0">
                <a:solidFill>
                  <a:srgbClr val="E5734F"/>
                </a:solidFill>
                <a:latin typeface="Georgia"/>
              </a:rPr>
              <a:t>100</a:t>
            </a:r>
            <a:r>
              <a:rPr sz="2600" b="1" i="0">
                <a:solidFill>
                  <a:srgbClr val="E5734F"/>
                </a:solidFill>
                <a:latin typeface="Georgia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" y="411480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alibri"/>
              </a:rPr>
              <a:t>Acuratete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1143000"/>
            <a:ext cx="1627632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965960" y="1143000"/>
            <a:ext cx="1627632" cy="47548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39112" y="12161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79" y="170992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4332"/>
                </a:solidFill>
                <a:latin typeface="Calibri"/>
              </a:rPr>
              <a:t>Acq -&gt; Acq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7" y="2194560"/>
            <a:ext cx="14996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Train: Achizitie
Test:  Achizitie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3976" y="3246120"/>
            <a:ext cx="1371600" cy="82296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11679" y="324612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4332"/>
                </a:solidFill>
                <a:latin typeface="Georgia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79" y="411480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alibri"/>
              </a:rPr>
              <a:t>Acuratete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30752" y="1143000"/>
            <a:ext cx="1627632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730752" y="1143000"/>
            <a:ext cx="1627632" cy="4754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03904" y="12161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6472" y="170992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66666"/>
                </a:solidFill>
                <a:latin typeface="Calibri"/>
              </a:rPr>
              <a:t>360 -&gt; Acq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194560"/>
            <a:ext cx="14996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Train: Fruits-360
Test:  Achizitie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58768" y="3246120"/>
            <a:ext cx="1371600" cy="82296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76472" y="3246120"/>
            <a:ext cx="15361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>
                <a:solidFill>
                  <a:srgbClr val="666666"/>
                </a:solidFill>
                <a:latin typeface="Georgia"/>
              </a:rPr>
              <a:t>86.40%</a:t>
            </a:r>
            <a:endParaRPr sz="2600" b="1" i="0">
              <a:solidFill>
                <a:srgbClr val="666666"/>
              </a:solidFill>
              <a:latin typeface="Georgi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76472" y="411480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alibri"/>
              </a:rPr>
              <a:t>Acuratete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95544" y="1143000"/>
            <a:ext cx="1627632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95544" y="1143000"/>
            <a:ext cx="1627632" cy="475488"/>
          </a:xfrm>
          <a:prstGeom prst="rect">
            <a:avLst/>
          </a:prstGeom>
          <a:solidFill>
            <a:srgbClr val="C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68696" y="12161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1264" y="170992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030"/>
                </a:solidFill>
                <a:latin typeface="Calibri"/>
              </a:rPr>
              <a:t>Acq -&gt; 360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9552" y="2194560"/>
            <a:ext cx="14996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Train: Achizitie
Test:  Fruits-360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59" y="3246120"/>
            <a:ext cx="1371600" cy="82296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41264" y="3246120"/>
            <a:ext cx="15361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>
                <a:solidFill>
                  <a:srgbClr val="CC3030"/>
                </a:solidFill>
                <a:latin typeface="Georgia"/>
              </a:rPr>
              <a:t>90.13%</a:t>
            </a:r>
            <a:endParaRPr sz="2600" b="1" i="0">
              <a:solidFill>
                <a:srgbClr val="CC3030"/>
              </a:solidFill>
              <a:latin typeface="Georgi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41264" y="411480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alibri"/>
              </a:rPr>
              <a:t>Acuratete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0336" y="1143000"/>
            <a:ext cx="1627632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260336" y="1143000"/>
            <a:ext cx="1627632" cy="47548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33488" y="12161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06055" y="170992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B788"/>
                </a:solidFill>
                <a:latin typeface="Calibri"/>
              </a:rPr>
              <a:t>Comb -&gt; Comb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24344" y="2194560"/>
            <a:ext cx="14996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Train: Combined
Test:  Combined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88352" y="3246120"/>
            <a:ext cx="1371600" cy="82296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06055" y="3246120"/>
            <a:ext cx="15361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i="0">
                <a:solidFill>
                  <a:srgbClr val="52B788"/>
                </a:solidFill>
                <a:latin typeface="Georgia"/>
              </a:rPr>
              <a:t>100</a:t>
            </a:r>
            <a:r>
              <a:rPr sz="2600" b="1" i="0">
                <a:solidFill>
                  <a:srgbClr val="52B788"/>
                </a:solidFill>
                <a:latin typeface="Georgia"/>
              </a:rPr>
              <a:t>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06055" y="411480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alibri"/>
              </a:rPr>
              <a:t>Acuratete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" y="4389120"/>
            <a:ext cx="8741664" cy="53035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480560"/>
            <a:ext cx="8458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S1/S2 (100%) - Intra-domeniu: MobileNetV2 atinge acuratete perfecta   |   S3/S4 (86-90%) = domain shift moderat   |   S5 (100%) = combinat confirma generalizarea</a:t>
            </a:r>
          </a:p>
        </p:txBody>
      </p:sp>
    </p:spTree>
    <p:extLst>
      <p:ext uri="{BB962C8B-B14F-4D97-AF65-F5344CB8AC3E}">
        <p14:creationId xmlns:p14="http://schemas.microsoft.com/office/powerpoint/2010/main" val="3424838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675120" y="-914400"/>
            <a:ext cx="3200400" cy="32004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731520" y="3383280"/>
            <a:ext cx="2286000" cy="2286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Concluzii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4572000" cy="4572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73152" cy="5029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F3DC"/>
                </a:solidFill>
                <a:latin typeface="Calibri"/>
              </a:rPr>
              <a:t>MobileNetV2 cu Transfer Learning atinge 100% in toate scenariile intra-domeniu (S1, S2, S5)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28216"/>
            <a:ext cx="73152" cy="50292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77393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Domain shift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moderat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: cross-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domeniu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intre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86.40% (S3)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90.13% (S4)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04872"/>
            <a:ext cx="73152" cy="5029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450591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D8F3DC"/>
                </a:solidFill>
                <a:latin typeface="Calibri"/>
              </a:rPr>
              <a:t>Augmentare</a:t>
            </a:r>
            <a:r>
              <a:rPr sz="1200" b="0" i="0" dirty="0">
                <a:solidFill>
                  <a:srgbClr val="D8F3DC"/>
                </a:solidFill>
                <a:latin typeface="Calibri"/>
              </a:rPr>
              <a:t> PIL (11 </a:t>
            </a:r>
            <a:r>
              <a:rPr sz="1200" b="0" i="0" dirty="0" err="1">
                <a:solidFill>
                  <a:srgbClr val="D8F3DC"/>
                </a:solidFill>
                <a:latin typeface="Calibri"/>
              </a:rPr>
              <a:t>tehnici</a:t>
            </a:r>
            <a:r>
              <a:rPr sz="1200" b="0" i="0" dirty="0">
                <a:solidFill>
                  <a:srgbClr val="D8F3DC"/>
                </a:solidFill>
                <a:latin typeface="Calibri"/>
              </a:rPr>
              <a:t>) </a:t>
            </a:r>
            <a:r>
              <a:rPr sz="1200" b="0" i="0" dirty="0" err="1">
                <a:solidFill>
                  <a:srgbClr val="D8F3DC"/>
                </a:solidFill>
                <a:latin typeface="Calibri"/>
              </a:rPr>
              <a:t>confera</a:t>
            </a:r>
            <a:r>
              <a:rPr sz="1200" b="0" i="0" dirty="0">
                <a:solidFill>
                  <a:srgbClr val="D8F3D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8F3DC"/>
                </a:solidFill>
                <a:latin typeface="Calibri"/>
              </a:rPr>
              <a:t>diversitate</a:t>
            </a:r>
            <a:r>
              <a:rPr sz="1200" b="0" i="0" dirty="0">
                <a:solidFill>
                  <a:srgbClr val="D8F3D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8F3DC"/>
                </a:solidFill>
                <a:latin typeface="Calibri"/>
              </a:rPr>
              <a:t>si</a:t>
            </a:r>
            <a:r>
              <a:rPr sz="1200" b="0" i="0" dirty="0">
                <a:solidFill>
                  <a:srgbClr val="D8F3D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8F3DC"/>
                </a:solidFill>
                <a:latin typeface="Calibri"/>
              </a:rPr>
              <a:t>generalizare</a:t>
            </a:r>
            <a:r>
              <a:rPr sz="1200" b="0" i="0" dirty="0">
                <a:solidFill>
                  <a:srgbClr val="D8F3D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8F3DC"/>
                </a:solidFill>
                <a:latin typeface="Calibri"/>
              </a:rPr>
              <a:t>superioara</a:t>
            </a:r>
            <a:endParaRPr sz="1200" b="0" i="0" dirty="0">
              <a:solidFill>
                <a:srgbClr val="D8F3DC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081527"/>
            <a:ext cx="73152" cy="50292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27247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Asimetrie S3 (86.40%) &lt; S4 (90.13%): augmentarea PIL confera generalizare mai buna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58183"/>
            <a:ext cx="73152" cy="5029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03903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F3DC"/>
                </a:solidFill>
                <a:latin typeface="Calibri"/>
              </a:rPr>
              <a:t>Fine-tuning pe ultimele 30 straturi MobileNetV2 + rata invatare 0.0001 - cheie pentru TL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809744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4C69D"/>
                </a:solidFill>
                <a:latin typeface="Calibri"/>
              </a:rPr>
              <a:t>Proiect ACABI  |  Clasificarea Fructelor cu MobileNetV2  |  TensorFlow/Keras  |  Master ACABI 2025-2026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444</TotalTime>
  <Words>1010</Words>
  <Application>Microsoft Office PowerPoint</Application>
  <PresentationFormat>On-screen Show (16:9)</PresentationFormat>
  <Paragraphs>237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Century Gothic</vt:lpstr>
      <vt:lpstr>Georgia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Adriana-Ștefania Costan</cp:lastModifiedBy>
  <cp:revision>25</cp:revision>
  <dcterms:created xsi:type="dcterms:W3CDTF">2013-01-27T09:14:16Z</dcterms:created>
  <dcterms:modified xsi:type="dcterms:W3CDTF">2026-05-14T14:39:09Z</dcterms:modified>
  <cp:category/>
</cp:coreProperties>
</file>